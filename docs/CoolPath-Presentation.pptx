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Corridors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2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89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E6B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0-20
Critical</c:v>
                  </c:pt>
                  <c:pt idx="1">
                    <c:v>21-40
Exposed</c:v>
                  </c:pt>
                  <c:pt idx="2">
                    <c:v>41-60
Partial</c:v>
                  </c:pt>
                  <c:pt idx="3">
                    <c:v>61-80
Good</c:v>
                  </c:pt>
                  <c:pt idx="4">
                    <c:v>81-100
Shaded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8</c:v>
                </c:pt>
                <c:pt idx="2">
                  <c:v>10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D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Osamah. CoolPath is a campus navigation tool built to find the most shaded walking route between KFUPM buildings — not just the shortest. This briefing covers the problem, what we built, Vision 2030 alignment, and how ARE data can take this further.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peak temperatures exceed 45°C. Students walk between buildings daily. Existing tools route by shortest distance only — ignoring shade. This is a health issue, an accessibility gap, and a planning intelligence gap all in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CoolPath runs entirely in the browser. Three routing modes plus a dedicated shade planning page for facilities teams. No installation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fully exposed path costs 3.5x its physical distance in the algorithm. A fully shaded path costs 1x. The algorithm naturally finds routes that are slightly longer in metres but far more comfortable.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Building 76 to Student Restaurant. 715m, 56% shade, 9 minutes. Route card shows all key stats. Three map tile modes and overlay layers for heatmap and crowd density.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Shade Plan page ranks corridors by priority score. Highest traffic x highest exposure = most urgent. Each corridor gets a specific recommendation: covered walkway, shade sails, trees, or trellis.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Vision 2030 pillars: disability inclusion (legally mandated via CRPD), liveability (shade = public health), and sustainable urban design (native trees, replicable model).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Accessible mode completely rebuilds the routing graph excluding inaccessible paths. Heat stress disproportionately impacts wheelchair users and people with chronic conditions. High-contrast mode and screen-reader support are already built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dataset: 15 GPS-verified buildings, 30 corridors. Average shade is 46%. 12 corridors — 40% of the network — are rated exposed or critically exposed. This is what students walk through every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shade scores are manually estimated — about 70% accurate. ARE involvement gives us four upgrades: accurate solar simulation, UTCI metrics for publication, surface material data, and eventually live sensor feeds.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phases: immediate term with real data integration, medium term with UTCI and accessibility upgrades, long term as a publishable research system for hot arid climate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 for Osamah: real problem, institutional mandate, and the tool is built and waiting for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657600" cy="2926080"/>
          </a:xfrm>
          <a:prstGeom prst="ellipse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"/>
            <a:ext cx="2560320" cy="2011680"/>
          </a:xfrm>
          <a:prstGeom prst="ellipse">
            <a:avLst/>
          </a:prstGeom>
          <a:solidFill>
            <a:srgbClr val="00B894">
              <a:alpha val="15000"/>
            </a:srgbClr>
          </a:solidFill>
          <a:ln w="12700">
            <a:solidFill>
              <a:srgbClr val="00B894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KFUPM CAMPUS SHADE NAVIGATION 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CoolPath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coolest, most shaded path — not just the shortest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035808"/>
            <a:ext cx="1828800" cy="54864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Osamah   |   April 2026   |   KFUPM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summer heat makes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walks a health hazard.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tool routes for shade.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03320" y="320040"/>
            <a:ext cx="2286000" cy="128016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03320" y="320040"/>
            <a:ext cx="64008" cy="128016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411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45°C+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794760" y="1005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summer temperature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KFUPM campus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320040"/>
            <a:ext cx="2286000" cy="128016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320040"/>
            <a:ext cx="6400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411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5,088m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75120" y="1005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walkway distance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campus network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1828800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0" y="1828800"/>
            <a:ext cx="64008" cy="8686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43400" y="19019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 Stress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43400" y="2176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exposed to dangerous heat during peak hours (10am–3pm) with no routing guidance.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0" y="2834640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2834640"/>
            <a:ext cx="64008" cy="868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♿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43400" y="29077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Accessibility Routing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43400" y="31821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 finder considers ramps, shade, rest stops, or wheelchair-accessible corridors.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3840480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0" y="3840480"/>
            <a:ext cx="64008" cy="8686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343400" y="39136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Planning Data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43400" y="41879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teams lack a heat-exposure priority map to guide shade infrastructure investment.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COOLPATH?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Browser-Based Shade Navigation App</a:t>
            </a:r>
            <a:endParaRPr lang="en-US" sz="3000" dirty="0"/>
          </a:p>
        </p:txBody>
      </p:sp>
      <p:pic>
        <p:nvPicPr>
          <p:cNvPr id="5" name="Image 0" descr="D:\ClaudeProjects\CoolPath\docs\screenshots\main-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54864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1188720"/>
            <a:ext cx="2834640" cy="804672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80760" y="1188720"/>
            <a:ext cx="64008" cy="80467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99632" y="1252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Shortest Route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99632" y="1554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for fastest path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80760" y="2103120"/>
            <a:ext cx="2834640" cy="804672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80760" y="2103120"/>
            <a:ext cx="64008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9632" y="2167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Coolest Route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99632" y="2468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Shade-weighted algorithm, comfort first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80760" y="3017520"/>
            <a:ext cx="2834640" cy="804672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80760" y="3017520"/>
            <a:ext cx="64008" cy="8046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9632" y="30815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Accessible Route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99632" y="3383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inaccessible paths, step-free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80760" y="3931920"/>
            <a:ext cx="2834640" cy="804672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80760" y="3931920"/>
            <a:ext cx="64008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9632" y="39959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Shade Plan Page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99632" y="4297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priority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ALGORITHM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4389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Coolest Route is Calculated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91440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Coolest Weight  =  distance  ×  ( 1  +  2.5  ×  (100 − shadeScore) / 100 )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2084832"/>
            <a:ext cx="2816352" cy="1188720"/>
          </a:xfrm>
          <a:prstGeom prst="rect">
            <a:avLst/>
          </a:prstGeom>
          <a:solidFill>
            <a:srgbClr val="E8FAF5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2084832"/>
            <a:ext cx="64008" cy="118872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1305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Shaded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24231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shadeScore = 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8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 1.0 effective cost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27248" y="2084832"/>
            <a:ext cx="2816352" cy="1188720"/>
          </a:xfrm>
          <a:prstGeom prst="rect">
            <a:avLst/>
          </a:prstGeom>
          <a:solidFill>
            <a:srgbClr val="FEF8EC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27248" y="2084832"/>
            <a:ext cx="64008" cy="1188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1305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Partially Shaded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4231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shadeScore = 60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 2.0 effective cost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25896" y="2084832"/>
            <a:ext cx="2816352" cy="1188720"/>
          </a:xfrm>
          <a:prstGeom prst="rect">
            <a:avLst/>
          </a:prstGeom>
          <a:solidFill>
            <a:srgbClr val="FDECEC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2084832"/>
            <a:ext cx="64008" cy="11887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21305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Exposed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24231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shadeScore = 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4768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 3.5 effective cost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28600" y="3429000"/>
            <a:ext cx="4297680" cy="1508760"/>
          </a:xfrm>
          <a:prstGeom prst="rect">
            <a:avLst/>
          </a:prstGeom>
          <a:solidFill>
            <a:srgbClr val="D4F5EC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Coolest Route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377647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 shaded corridors even if slightly longer in metres. Minimises heat exposure. Best for 10am–3pm peak hours.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429000"/>
            <a:ext cx="4251960" cy="1508760"/>
          </a:xfrm>
          <a:prstGeom prst="rect">
            <a:avLst/>
          </a:prstGeom>
          <a:solidFill>
            <a:srgbClr val="FEF3D6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4930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Shortest Route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377647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shade entirely. Minimises physical distance only. May route through fully exposed corridors at dangerous times.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Navigator in Action: Building 76 to Student Restaurant</a:t>
            </a:r>
            <a:endParaRPr lang="en-US" sz="2400" dirty="0"/>
          </a:p>
        </p:txBody>
      </p:sp>
      <p:pic>
        <p:nvPicPr>
          <p:cNvPr id="5" name="Image 0" descr="D:\ClaudeProjects\CoolPath\docs\screenshots\coolest-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9436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005840"/>
            <a:ext cx="2514600" cy="1170432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1005840"/>
            <a:ext cx="64008" cy="117043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0528" y="1097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Card Stats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10528" y="13990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715m total · 56% shade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 walk time · comfort score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0" y="2331720"/>
            <a:ext cx="2514600" cy="1170432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2331720"/>
            <a:ext cx="64008" cy="1170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0528" y="2423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Map Tile Modes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10528" y="27249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· Satellite · Campus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live during routing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0" y="3657600"/>
            <a:ext cx="2514600" cy="1170432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3657600"/>
            <a:ext cx="64008" cy="1170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0528" y="3749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Overlay Layers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10528" y="40507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· Crowd density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shade corridors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SHADE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43891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Priority Planning for Facilities Teams</a:t>
            </a:r>
            <a:endParaRPr lang="en-US" sz="2400" dirty="0"/>
          </a:p>
        </p:txBody>
      </p:sp>
      <p:pic>
        <p:nvPicPr>
          <p:cNvPr id="5" name="Image 0" descr="D:\ClaudeProjects\CoolPath\docs\screenshots\shade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303520" cy="2743200"/>
          </a:xfrm>
          <a:prstGeom prst="rect">
            <a:avLst/>
          </a:prstGeom>
        </p:spPr>
      </p:pic>
      <p:pic>
        <p:nvPicPr>
          <p:cNvPr id="6" name="Image 1" descr="D:\ClaudeProjects\CoolPath\docs\screenshots\corridor-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05840"/>
            <a:ext cx="320040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3840480"/>
            <a:ext cx="5212080" cy="77724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20040" y="3867912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Score  =  Traffic Density  x  ( 100 - Shade Score 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669280" y="3840480"/>
            <a:ext cx="164592" cy="20116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97880" y="38404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200 — Critical Priority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669280" y="4096512"/>
            <a:ext cx="164592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897880" y="40965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150–199 — High Priority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669280" y="4352544"/>
            <a:ext cx="164592" cy="20116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97880" y="435254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— Low Priority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INSTITUTIONAL BACKING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2030 Alignment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88920" cy="37947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78892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Disability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CRPD obligation — Saudi Arabia ratified 2008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Transformation Program KPI: inclusive infrastructure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32918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KFUPM Policy obligates accessible routing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9776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mode already built into CoolPath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097280"/>
            <a:ext cx="2788920" cy="37947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097280"/>
            <a:ext cx="2788920" cy="6400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2070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Liveability &amp;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Wellbeing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6120" y="19202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Life Program targets outdoor comfort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26060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 = direct heat-health intervention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32918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walkability goals in hot climate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39776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reliance on air-conditioned transport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097280"/>
            <a:ext cx="2788920" cy="37947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097280"/>
            <a:ext cx="278892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2070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Sustainable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Urban Design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19202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tree corridors reduce urban heat island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6060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shade infrastructure investment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32918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model for other Saudi campuses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39776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NEOM &amp; Vision 2030 city design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43891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Disability-Inclusive Routing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64008" cy="3840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Accessible Mode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490472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Graph rebuild — inaccessible edges removed from routing graph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Shade weighting still applied — comfort remains a priority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Steps, steep slopes, unpaved surfaces excluded automatically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Rest-point nodes flagged for future waypoint integration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High-contrast mode + screen-reader labels already implemented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4343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51560"/>
            <a:ext cx="64008" cy="384048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115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Benefits Most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0872" y="1508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Wheelchair users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90872" y="17830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steps, rough surfaces, inaccessible gates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90872" y="21671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Elderly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90872" y="24414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exposure time + rest points on route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0872" y="2825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Chronic conditions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90872" y="30998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Heart/respiratory — heat exposure is life 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0872" y="34838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Low-vision users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90872" y="37581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 mode + full screen-reader support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0872" y="41422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Deaf users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90872" y="44165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Visual-only alerts, no audio dependency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Campus Network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84832" cy="12801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128016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8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87168" y="1051560"/>
            <a:ext cx="2084832" cy="12801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051560"/>
            <a:ext cx="64008" cy="128016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10789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8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96896" y="17373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0016" y="1051560"/>
            <a:ext cx="2084832" cy="12801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1051560"/>
            <a:ext cx="64008" cy="12801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0789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09744" y="17373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 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12864" y="1051560"/>
            <a:ext cx="2084832" cy="12801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12864" y="1051560"/>
            <a:ext cx="64008" cy="128016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22592" y="10789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5,088m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22592" y="17373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Walkway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2514600"/>
          <a:ext cx="621792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675120" y="2514600"/>
            <a:ext cx="2240280" cy="24231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675120" y="2514600"/>
            <a:ext cx="64008" cy="242316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93992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793992" y="2907792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30 corridors score below 40 — 40% of the network rated Exposed or worse.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43891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 Department: Four Data Upgrades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64008" cy="18288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Shadow Simulation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Ladybug + Grasshopper tools generate hour-by-hour shade maps.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estimates with high accuracy.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4041648" cy="502920"/>
          </a:xfrm>
          <a:prstGeom prst="rect">
            <a:avLst/>
          </a:prstGeom>
          <a:solidFill>
            <a:srgbClr val="FEF8EC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58568"/>
            <a:ext cx="64008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28600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From ~70% to ~95% shade 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51560"/>
            <a:ext cx="64008" cy="18288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43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UTCI Thermal Comfort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508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Thermal Climate Index — gold standard outdoor comfort metric.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academic publication and policy citation.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258568"/>
            <a:ext cx="4041648" cy="502920"/>
          </a:xfrm>
          <a:prstGeom prst="rect">
            <a:avLst/>
          </a:prstGeom>
          <a:solidFill>
            <a:srgbClr val="FDECEC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258568"/>
            <a:ext cx="64008" cy="5029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28600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Publishable methodology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01752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017520"/>
            <a:ext cx="64008" cy="1828800"/>
          </a:xfrm>
          <a:prstGeom prst="rect">
            <a:avLst/>
          </a:prstGeom>
          <a:solidFill>
            <a:srgbClr val="7FC97F"/>
          </a:solidFill>
          <a:ln w="12700">
            <a:solidFill>
              <a:srgbClr val="7FC9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08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 Material Survey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4747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Pavement type (concrete vs asphalt vs tile) affects radiant heat.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emissivity values refine routing weights.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224528"/>
            <a:ext cx="4041648" cy="502920"/>
          </a:xfrm>
          <a:prstGeom prst="rect">
            <a:avLst/>
          </a:prstGeom>
          <a:solidFill>
            <a:srgbClr val="F0FBF0"/>
          </a:solidFill>
          <a:ln w="12700">
            <a:solidFill>
              <a:srgbClr val="7FC9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224528"/>
            <a:ext cx="64008" cy="502920"/>
          </a:xfrm>
          <a:prstGeom prst="rect">
            <a:avLst/>
          </a:prstGeom>
          <a:solidFill>
            <a:srgbClr val="7FC97F"/>
          </a:solidFill>
          <a:ln w="12700">
            <a:solidFill>
              <a:srgbClr val="7FC9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425196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More precise coolest-route calculation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01752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017520"/>
            <a:ext cx="64008" cy="182880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108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Microclimate Sensors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4747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temperature + humidity feeds from campus weather stations.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dynamic routing that updates through the day.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4224528"/>
            <a:ext cx="4041648" cy="502920"/>
          </a:xfrm>
          <a:prstGeom prst="rect">
            <a:avLst/>
          </a:prstGeom>
          <a:solidFill>
            <a:srgbClr val="E8FA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4224528"/>
            <a:ext cx="64008" cy="50292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425196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Real-time comfort routing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Three-Phase Development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88920" cy="384048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788920" cy="7315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0700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B8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Semester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solar shadow data integration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0815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25+ buildings campus-wide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6758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shade variation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2702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GPS accuracy improvements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097280"/>
            <a:ext cx="2788920" cy="384048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09728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20700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291840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Semester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2487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UTCI-based route weighting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0815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point nodes on accessible routes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36758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+ ramp link integration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42702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layout optimisation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1097280"/>
            <a:ext cx="2788920" cy="384048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097280"/>
            <a:ext cx="278892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20700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6217920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&amp; Publication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2487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microclimate sensor feeds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30815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Multi-university campus 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6758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shade score prediction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42702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paper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657600" cy="3200400"/>
          </a:xfrm>
          <a:prstGeom prst="ellipse">
            <a:avLst/>
          </a:prstGeom>
          <a:solidFill>
            <a:srgbClr val="00B894">
              <a:alpha val="15000"/>
            </a:srgbClr>
          </a:solidFill>
          <a:ln w="12700">
            <a:solidFill>
              <a:srgbClr val="00B89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548640"/>
            <a:ext cx="2743200" cy="2286000"/>
          </a:xfrm>
          <a:prstGeom prst="ellipse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 TO REMEMBER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CoolPath: Ready. Waiting for Real Data.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987552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98755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801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8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143000" y="1316736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is not safest path at 45°C. CoolPath solves a real welfare problem no existing tool addresses.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987552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86000"/>
            <a:ext cx="64008" cy="9875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774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143000" y="2414016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2030's disability inclusion and sustainability mandates give this institutional backing — not just academic interest.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987552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383280"/>
            <a:ext cx="64008" cy="9875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747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143000" y="3511296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ARE department data, this becomes scientifically rigorous and publishable. The tool is ready — it needs your data.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F1E2A"/>
          </a:solidFill>
          <a:ln w="12700">
            <a:solidFill>
              <a:srgbClr val="0F1E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github.com/CoolPath-KFUPM   |   April 2026   |   KFUPM Campus Shade Navigation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CoolPath — KFUPM Campus Shade Navigation</dc:title>
  <dc:subject>PptxGenJS Presentation</dc:subject>
  <dc:creator>CoolPath Team</dc:creator>
  <cp:lastModifiedBy>CoolPath Team</cp:lastModifiedBy>
  <cp:revision>1</cp:revision>
  <dcterms:created xsi:type="dcterms:W3CDTF">2026-04-13T12:23:45Z</dcterms:created>
  <dcterms:modified xsi:type="dcterms:W3CDTF">2026-04-13T12:23:45Z</dcterms:modified>
</cp:coreProperties>
</file>